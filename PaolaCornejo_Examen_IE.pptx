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LABORATORIO E-LEARNING · DIAGNÓSTICO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Ficha del Caso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1556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Sector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38988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Educación digital, capacitación y diseño instruccional.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51960" y="10058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111556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89120" y="138988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Baja retención del conocimiento y falta de motivación en formación digital.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92440" y="10058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1556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0" y="138988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Empresas · Universidades · OTEC · Organismos públicos.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233172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44144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271576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Capacitaciones extensas, pasivas y difíciles de completar junto al trabajo/estudio.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51960" y="233172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0" y="244144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89120" y="271576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 final, RRHH/capacitación, instituciones, TI y plataformas LMS.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92440" y="233172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244144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Propósito (Por qué)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0" y="271576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Hacer que el aprendizaje digital sea breve, aplicable y medible, sin fricción de implementación.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11480" y="3840480"/>
            <a:ext cx="11338560" cy="2468880"/>
          </a:xfrm>
          <a:prstGeom prst="roundRect">
            <a:avLst>
              <a:gd name="adj" fmla="val 3704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02336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central ¿Cómo podría…?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4434840"/>
            <a:ext cx="10881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podría Laboratorio E-Learning mejorar la motivación y retención del conocimiento mediante experiencias digitales breves, interactivas y adaptables, sin aumentar la complejidad de implementación para sus clientes?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INVESTIGACIÓN EMPÁTICA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Usuario — “El aprendiz con poco tiempo”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3749040" cy="5349240"/>
          </a:xfrm>
          <a:prstGeom prst="roundRect">
            <a:avLst>
              <a:gd name="adj" fmla="val 2439"/>
            </a:avLst>
          </a:prstGeom>
          <a:solidFill>
            <a:srgbClr val="0D6B5C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14300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D5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463040"/>
            <a:ext cx="3291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Adulto 28–45 años, trabajador o estudiante, capacitaciones obligatorias o de desarrollo.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D5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COMPORTAMIENTOS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78892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Pospone módulos largos, multitarea en el celular, prioriza tareas operativas frente a cursos pasivos.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840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D5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416052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Capacitarse sin detener la jornada y aplicar lo aprendido de inmediato.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50292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D5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representa al segmento?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539496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 el dolor común de empresas, universidades, OTEC y sector público: poco tiempo + baja retención.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43400" y="960120"/>
            <a:ext cx="3657600" cy="5349240"/>
          </a:xfrm>
          <a:prstGeom prst="roundRect">
            <a:avLst>
              <a:gd name="adj" fmla="val 2500"/>
            </a:avLst>
          </a:prstGeom>
          <a:solidFill>
            <a:srgbClr val="FDECEC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1188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DOLORES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0" y="173736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Cursos demasiado extensos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0" y="242316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Falta de tiempo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0" y="310896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Contenido demasiado teórico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0" y="379476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Fatiga digital / pantallas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48056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Poco feedback de progreso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183880" y="960120"/>
            <a:ext cx="3566160" cy="3246120"/>
          </a:xfrm>
          <a:prstGeom prst="roundRect">
            <a:avLst>
              <a:gd name="adj" fmla="val 2817"/>
            </a:avLst>
          </a:prstGeom>
          <a:solidFill>
            <a:srgbClr val="DDF5E9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0" y="11430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ALEGRÍAS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412480" y="15544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Aprender algo aplicable ya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412480" y="2103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Saber cuánto demorará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412480" y="2651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Pequeñas metas / insignias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412480" y="3200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Aprender desde el celular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183880" y="438912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457200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BARRERAS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412480" y="493776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limitado · desmotivación · irrelevancia percibida · UX poco amigable en móvil.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IDEACIÓN · SCAMPER + 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La Solución — Microlearning inteligente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1480" y="914400"/>
            <a:ext cx="11338560" cy="640080"/>
          </a:xfrm>
          <a:prstGeom prst="roundRect">
            <a:avLst>
              <a:gd name="adj" fmla="val 14286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024128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núcleo: microcápsulas 3–5 min + IA + gamificación ligera + evaluación práctica inmediata.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691640"/>
            <a:ext cx="11338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SCAMPER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965960"/>
          <a:ext cx="11338560" cy="914400"/>
        </p:xfrm>
        <a:graphic>
          <a:graphicData uri="http://schemas.openxmlformats.org/drawingml/2006/table">
            <a:tbl>
              <a:tblPr/>
              <a:tblGrid>
                <a:gridCol w="1618488"/>
                <a:gridCol w="1618488"/>
                <a:gridCol w="1618488"/>
                <a:gridCol w="1618488"/>
                <a:gridCol w="1618488"/>
                <a:gridCol w="1618488"/>
                <a:gridCol w="162763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Sustituir PDF/módulos largos por microcápsulas + avatar 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Combinar aprendizaje con flujo diario (intranet/correo)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Adaptar gamificación ligera (progreso/insignias)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Modificar a rutas adaptativas según respuestas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Otros usos: consulta just-in-time operativa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Eliminar quizzes teóricos largos → práctica por cápsula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Reordenar: desafío práctico primero, teoría después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11480" y="3246120"/>
            <a:ext cx="11338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ideas seleccionadas (impacto · valor · innovación · factibilidad)</a:t>
            </a:r>
            <a:endParaRPr lang="en-US" sz="12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520440"/>
          <a:ext cx="113385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560320"/>
                <a:gridCol w="2743200"/>
                <a:gridCol w="14630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cliente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Innovación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Factib.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Microlearning + 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Más atención y retención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Capacitación breve y escalable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Avatares / generación asistida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Gamificación ligera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Más motivación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Mejor finalización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Progreso e insignias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Evaluación práctica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Refuerzo inmediato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de aprendizaje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Feedback contextual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11480" y="5074920"/>
            <a:ext cx="1133856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94360" y="516636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IA (síntesis) · Gemini/ChatGPT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594360" y="546811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Hallazgo: priorizar microlearning vs gamificación compleja. Decisión humana: micro + gamificación ligera. Riesgo IA: asumir plataforma propia → ajuste: integrar vía LMS/SCORM. 2ª interacción: barreras (tiempo, fatiga, irrelevancia) → cápsula ≤5 min + tiempo visible antes de empezar.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11480" y="6537960"/>
            <a:ext cx="11338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F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Aplicable a: Empresas · Universidades · OTEC · Organismos públicos  |  Detalle completo en Anexos 8–9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PROTOTIPO FUNCIONAL · MOCKUPS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El Prototipo</a:t>
            </a:r>
            <a:endParaRPr lang="en-US" sz="2600" dirty="0"/>
          </a:p>
        </p:txBody>
      </p:sp>
      <p:pic>
        <p:nvPicPr>
          <p:cNvPr id="7" name="Image 0" descr="/Users/javierpinochetmaureira/Downloads/laboratorio-elearning-prototipo/docs/mockups/lamina-4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0"/>
            <a:ext cx="7589520" cy="42611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46720" y="822960"/>
            <a:ext cx="3794760" cy="4261104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0" y="1005840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muestra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0" y="1371600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Inicio — 3 min + CTA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0" y="1755648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Aprendizaje — avatar + Solo audio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0" y="2139696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 Evaluación — botones táctiles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229600" y="2523744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4 Resultado — 100% + insignia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0" y="2907792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 Dashboard institucional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29600" y="3383280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6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 vs testeo previo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29600" y="3703320"/>
            <a:ext cx="3429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eliminó drag-and-drop; botones grandes + modo Solo audio + “Intentos ilimitados”.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5212080"/>
          <a:ext cx="116128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91840"/>
                <a:gridCol w="3017520"/>
                <a:gridCol w="3017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Problema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Insight usuario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Funcionalidad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supuesto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 de tiempo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Prioriza lo operativo; el curso largo se percibe como pérdida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Cápsula 3–5 min + tiempo visible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testeo: brevedad gatilla interés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 retención / sin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Olvida si es pasivo; necesita metas cortas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Quiz práctico + insignia + dashboard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práctica activa / supuesto refuerzo visual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NEGOCIO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Business Model Canvas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20040" y="960120"/>
            <a:ext cx="219456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05156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Alianzas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325880"/>
            <a:ext cx="20116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Proveedores tech, LMS, especialistas, instituciones educativas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51760" y="96012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0" y="105156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Actividades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0" y="13258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Diseño, producción, adaptación, implementación y medición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651760" y="210312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0" y="219456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743200" y="24688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instruccional, IA, multimedia, LMS/SCORM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83480" y="960120"/>
            <a:ext cx="2286000" cy="2148840"/>
          </a:xfrm>
          <a:prstGeom prst="roundRect">
            <a:avLst>
              <a:gd name="adj" fmla="val 4255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1051560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de valor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1325880"/>
            <a:ext cx="21031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Capacitación breve, atractiva, medible y adaptable (microlearning + IA)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406640" y="96012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0" y="105156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Relación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98080" y="13258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Consultoría inicial + personalización + soporte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406640" y="210312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0" y="219456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498080" y="24688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 B2B, web, alianzas, demos y licitaciones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738360" y="960120"/>
            <a:ext cx="2103120" cy="2148840"/>
          </a:xfrm>
          <a:prstGeom prst="roundRect">
            <a:avLst>
              <a:gd name="adj" fmla="val 4348"/>
            </a:avLst>
          </a:prstGeom>
          <a:solidFill>
            <a:srgbClr val="FDE7DB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29800" y="105156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829800" y="1325880"/>
            <a:ext cx="192024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Empresas, universidades, OTEC y organismos públicos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3246120"/>
            <a:ext cx="56692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333756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11480" y="361188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Personal, IA, producción AV, software, infraestructura y soporte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72200" y="3246120"/>
            <a:ext cx="56692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63640" y="333756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63640" y="361188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Programas, paquetes de cápsulas, licencias/recurrente y personalización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4480560"/>
            <a:ext cx="11521440" cy="1051560"/>
          </a:xfrm>
          <a:prstGeom prst="roundRect">
            <a:avLst>
              <a:gd name="adj" fmla="val 8696"/>
            </a:avLst>
          </a:prstGeom>
          <a:solidFill>
            <a:srgbClr val="0D6B5C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" y="4617720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D5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Hilo rojo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02920" y="493776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institucional → dolor del aprendiz (tiempo / motivación / retención) → SmartCaps (micro + IA + evaluación + métricas)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20040" y="5669280"/>
            <a:ext cx="115214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Sostenibilidad (deseable): dimensión social/económica — reduce tiempo improductivo de formación y democratiza acceso a capacitación aplicable en el ecosistema chileno (empresas, educación y sector público).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VISUALIZACIÓN CREATIVA · IMPACTO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Antes vs Después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5212080" cy="4297680"/>
          </a:xfrm>
          <a:prstGeom prst="roundRect">
            <a:avLst>
              <a:gd name="adj" fmla="val 2128"/>
            </a:avLst>
          </a:prstGeom>
          <a:solidFill>
            <a:srgbClr val="FDECEC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234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41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 Curso tradicional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6517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🕐  45–60 minutos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33832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😴  Baja motivación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77240" y="41148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Abandono / baja retención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537960" y="1005840"/>
            <a:ext cx="5212080" cy="4297680"/>
          </a:xfrm>
          <a:prstGeom prst="roundRect">
            <a:avLst>
              <a:gd name="adj" fmla="val 2128"/>
            </a:avLst>
          </a:prstGeom>
          <a:solidFill>
            <a:srgbClr val="DDF5E9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1234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SMARTCAPS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0" y="17830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 Microcápsula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0" y="22860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 3–5 minutos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58000" y="278892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 IA + interacción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329184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 Evaluación inmediata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0" y="379476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🏅  Progreso visible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0" y="42976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Resultados institucionales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11480" y="5532120"/>
            <a:ext cx="11338560" cy="960120"/>
          </a:xfrm>
          <a:prstGeom prst="roundRect">
            <a:avLst>
              <a:gd name="adj" fmla="val 9524"/>
            </a:avLst>
          </a:prstGeom>
          <a:solidFill>
            <a:srgbClr val="0D6B5C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566928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“Aprender lo necesario, en el momento necesario.”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ELEVATOR PITCH · ≤ 2 MIN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Pitch y Cierre — AIDA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DE7DB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12471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0D6B5C"/>
          </a:solidFill>
          <a:ln w="12700">
            <a:solidFill>
              <a:srgbClr val="0D6B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12471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109728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Atención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71600" y="13716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 conocimiento se pierde cuando una capacitación se completa solo porque es obligatoria?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201168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17627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0D6B5C"/>
          </a:solidFill>
          <a:ln w="12700">
            <a:solidFill>
              <a:srgbClr val="0D6B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17627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214884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Interés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24231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SmartCaps transforma contenidos extensos en microcápsulas interactivas de 3–5 minutos.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30632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DDF5E9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" y="322783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0D6B5C"/>
          </a:solidFill>
          <a:ln w="12700">
            <a:solidFill>
              <a:srgbClr val="0D6B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22783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320040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4747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+ evaluación práctica + gamificación ligera: aprender sin detener la jornada y dar trazabilidad a la institución (LMS/SCORM).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11480" y="411480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FF4EC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427939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0D6B5C"/>
          </a:solidFill>
          <a:ln w="12700">
            <a:solidFill>
              <a:srgbClr val="0D6B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27939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71600" y="425196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Acción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71600" y="45262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con un módulo real → medir finalización, participación y aprendizaje → escalar con evidencia.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11480" y="6537960"/>
            <a:ext cx="11338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F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OneDrive (IPLACEX): [PEGAR ENLACE AQUÍ]  ·  Archivo: PaolaCornejo_Video_Examen_IE  ·  Intro: Paola Carmen Cornejo Carlevarino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· NO FORMA PARTE DEL PITCH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SCAMPER completo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113385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Aplicación al caso Laboratorio E-Learning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— Sustituir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Sustituir manuales PDF y módulos largos por microcápsulas interactivas con avatar IA.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— Combinar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Combinar aprendizaje con el flujo de trabajo (correo/intranet) como píldoras formativas.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Adaptar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Adaptar mecánicas de juego (progreso, insignias) a cursos institucionales.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— Modificar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Pasar de diseño estático a rutas adaptativas según respuestas previas.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 — Otros usos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Catálogo también como repositorio just-in-time para dudas operativas.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 — Eliminar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Eliminar evaluaciones teóricas largas; validación práctica por microcápsula.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 — Reordenar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Primero desafío/caso práctico; después la teoría necesaria.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6537960"/>
            <a:ext cx="11338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F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expediente Evaluación 2 (G4) + cierre individual examen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· PLANTILLA 5 CAMPOS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Trazabilidad IA (2 interacciones)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5577840" cy="52120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0972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Interacción 1 — Gemini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1508760"/>
            <a:ext cx="52120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Objetivo: </a:t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Comparar microlearning+IA vs gamificación robusta.
</a:t>
            </a:r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Prompt: </a:t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viabilidad, costos e impacto en retención.
</a:t>
            </a:r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Salida: </a:t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microlearning más rápido/económico a corto plazo; gamificación profunda más costosa.
</a:t>
            </a:r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Decisión: </a:t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núcleo = microlearning + gamificación ligera.
</a:t>
            </a:r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Riesgo: </a:t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asumió plataforma propia → ajuste LMS/SCORM.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960120"/>
            <a:ext cx="5577840" cy="52120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0972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Interacción 2 — Gemini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55080" y="1508760"/>
            <a:ext cx="52120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Objetivo: </a:t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Barreras de adopción en colaboradores.
</a:t>
            </a:r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Prompt: </a:t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barreras + mitigaciones de experiencia.
</a:t>
            </a:r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Salida: </a:t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tiempo, fatiga digital, irrelevancia percibida.
</a:t>
            </a:r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Decisión: </a:t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≤5 min + contenido desde un “dolor” operativo.
</a:t>
            </a:r>
            <a:pPr indent="0" marL="0">
              <a:buNone/>
            </a:pPr>
            <a:r>
              <a:rPr lang="en-US" sz="12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Riesgo: </a:t>
            </a:r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mitigaciones teóricas → funcionalidad concreta: mostrar minutos antes de iniciar.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· CONSTRUIR–MEDIR–APRENDER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Validación, iteración y matriz ampliada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11338560" cy="2011680"/>
          </a:xfrm>
          <a:prstGeom prst="roundRect">
            <a:avLst>
              <a:gd name="adj" fmla="val 4545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143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 documentado al prototipo (desde testeo previo)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Cambio: eliminar drag-and-drop → botones táctiles grandes + modo Solo audio + “Intentos ilimitados”.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Por qué: fricción en móvil detectada en usuario de terreno (vendedor).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(c) Pendiente: validar reporte de métricas en LMS clientes (Moodle/SAP) sin errores de compatibilidad.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200400"/>
          <a:ext cx="113385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3017520"/>
                <a:gridCol w="3017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Problema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Insight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Funcionalidad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Evidencia/supuesto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D6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Abandono por tiempo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Capacitación vista como pérdida productiva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Cápsulas 3–5 min + cronómetro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Evidencia: brevedad genera interés / supuesto ≤5 min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 retención teórica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Olvida sin aplicación inmediata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Mini-quiz práctico por cápsula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Evidencia: práctica activa fija conocimiento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feedback de progreso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Frustración ante cursos interminables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Insignia + barra + dashboard RRHH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Supuesto: refuerzo visual aumenta retorno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Fricción móvil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Drag-and-drop falla en pantallas chicas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Botones grandes + Solo audio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3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testeo usuario en terreno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7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· AUDITORÍA DEL PITCH CON 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Auditoría del guion AIDA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1005840"/>
            <a:ext cx="88239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26187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0" y="1143000"/>
            <a:ext cx="8458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/ Gemini (auditoría de síntesis y tono)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19659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26080" y="1965960"/>
            <a:ext cx="88239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22199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08960" y="2103120"/>
            <a:ext cx="8458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“Audita este elevator pitch AIDA de ≤2 min para SmartCaps/Laboratorio E-Learning: mejora gancho, empatía con arquetipo, claridad de valor, llamada a la acción y ritmo oral.”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29260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26080" y="2926080"/>
            <a:ext cx="88239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18211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Mejoras 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08960" y="3063240"/>
            <a:ext cx="8458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Acortar frases; anclar el dolor en el aprendiz; explicitar LMS/SCORM; cerrar con piloto medible; evitar jerga.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1480" y="388620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6080" y="3886200"/>
            <a:ext cx="88239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14223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Cambios hechos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108960" y="4023360"/>
            <a:ext cx="8458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 IPLACEX obligatoria; gancho retórico; deseo con trazabilidad institucional; acción = piloto + métricas.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1480" y="484632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D8F0EA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26080" y="4846320"/>
            <a:ext cx="88239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10235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4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Versión final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108960" y="4983480"/>
            <a:ext cx="8458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lámina 7 + archivo docs/guion-video-aida-2min.md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371600"/>
            <a:ext cx="4572000" cy="3657600"/>
          </a:xfrm>
          <a:prstGeom prst="ellipse">
            <a:avLst/>
          </a:prstGeom>
          <a:solidFill>
            <a:srgbClr val="C8E8E0">
              <a:alpha val="60000"/>
            </a:srgbClr>
          </a:solidFill>
          <a:ln w="12700">
            <a:solidFill>
              <a:srgbClr val="C8E8E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731520"/>
            <a:ext cx="4114800" cy="3200400"/>
          </a:xfrm>
          <a:prstGeom prst="ellipse">
            <a:avLst/>
          </a:prstGeom>
          <a:solidFill>
            <a:srgbClr val="F8D9C8">
              <a:alpha val="55000"/>
            </a:srgbClr>
          </a:solidFill>
          <a:ln w="12700">
            <a:solidFill>
              <a:srgbClr val="F8D9C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· FORMALIDADES DE ENTREGA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384048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Checklist de entrega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113385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PPT/PDF exactamente 7 láminas de pitch (+ anexos desde la 8) — nombre: PaolaCornejo_Examen_IE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1645920"/>
            <a:ext cx="113385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5564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Video ≤ 2 min — nombre: PaolaCornejo_Video_Examen_IE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2286000"/>
            <a:ext cx="113385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3957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Intro obligatoria: Paola Carmen Cornejo Carlevarino · Innovación y Emprendimiento · fines educativos IPLACEX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2926080"/>
            <a:ext cx="113385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03580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Estructura AIDA · grabación continua sin cortes · horizontal ≥720p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" y="3566160"/>
            <a:ext cx="113385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67588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Subir a OneDrive institucional · enlace verificable · NO YouDrive/YouTube/redes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4206240"/>
            <a:ext cx="113385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31596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Pegar enlace en lámina 7 · entrega hasta 21-sep-2026 23:59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11480" y="4846320"/>
            <a:ext cx="113385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95604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Trabajo individual · caso Laboratorio E-Learning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11480" y="5486400"/>
            <a:ext cx="113385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7E4D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596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Datos del dashboard: demostrativos del prototipo (no evidencia de cliente real)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Examen IE — Laboratorio E-Learning · SmartCaps</dc:title>
  <dc:subject>7 láminas + anexos — Paola Cornejo</dc:subject>
  <dc:creator>Paola Carmen Cornejo Carlevarino</dc:creator>
  <cp:lastModifiedBy>Paola Carmen Cornejo Carlevarino</cp:lastModifiedBy>
  <cp:revision>1</cp:revision>
  <dcterms:created xsi:type="dcterms:W3CDTF">2026-09-12T01:15:50Z</dcterms:created>
  <dcterms:modified xsi:type="dcterms:W3CDTF">2026-09-12T01:15:50Z</dcterms:modified>
</cp:coreProperties>
</file>